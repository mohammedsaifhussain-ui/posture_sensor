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Upper Delta (°)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Sheet1!$A$2:$A$4</c:f>
              <c:strCache>
                <c:ptCount val="3"/>
                <c:pt idx="0">
                  <c:v>Upright Sit</c:v>
                </c:pt>
                <c:pt idx="1">
                  <c:v>Forward Lean (Mug)</c:v>
                </c:pt>
                <c:pt idx="2">
                  <c:v>Upper Slouch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22.0</c:v>
                </c:pt>
                <c:pt idx="2">
                  <c:v>21.5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 Delta (°)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Upright Sit</c:v>
                </c:pt>
                <c:pt idx="1">
                  <c:v>Forward Lean (Mug)</c:v>
                </c:pt>
                <c:pt idx="2">
                  <c:v>Upper Slouch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20.5</c:v>
                </c:pt>
                <c:pt idx="2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Curvature (°)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Sheet1!$A$2:$A$4</c:f>
              <c:strCache>
                <c:ptCount val="3"/>
                <c:pt idx="0">
                  <c:v>Upright Sit</c:v>
                </c:pt>
                <c:pt idx="1">
                  <c:v>Forward Lean (Mug)</c:v>
                </c:pt>
                <c:pt idx="2">
                  <c:v>Upper Slouch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</c:v>
                </c:pt>
                <c:pt idx="1">
                  <c:v>1.5</c:v>
                </c:pt>
                <c:pt idx="2">
                  <c:v>19.5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Balanced Error (%)</c:v>
                </c:pt>
              </c:strCache>
            </c:strRef>
          </c:tx>
          <c:spPr>
            <a:ln>
              <a:solidFill>
                <a:srgbClr val="0284C7"/>
              </a:solidFill>
            </a:ln>
          </c:spPr>
          <c:cat>
            <c:strRef>
              <c:f>Sheet1!$A$2:$A$8</c:f>
              <c:strCache>
                <c:ptCount val="7"/>
                <c:pt idx="0">
                  <c:v>5°</c:v>
                </c:pt>
                <c:pt idx="1">
                  <c:v>10°</c:v>
                </c:pt>
                <c:pt idx="2">
                  <c:v>15°</c:v>
                </c:pt>
                <c:pt idx="3">
                  <c:v>20°</c:v>
                </c:pt>
                <c:pt idx="4">
                  <c:v>25°</c:v>
                </c:pt>
                <c:pt idx="5">
                  <c:v>30°</c:v>
                </c:pt>
                <c:pt idx="6">
                  <c:v>35°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38.0</c:v>
                </c:pt>
                <c:pt idx="1">
                  <c:v>14.0</c:v>
                </c:pt>
                <c:pt idx="2">
                  <c:v>4.5</c:v>
                </c:pt>
                <c:pt idx="3">
                  <c:v>9.0</c:v>
                </c:pt>
                <c:pt idx="4">
                  <c:v>22.0</c:v>
                </c:pt>
                <c:pt idx="5">
                  <c:v>36.0</c:v>
                </c:pt>
                <c:pt idx="6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Balanced Error (%)</c:v>
                </c:pt>
              </c:strCache>
            </c:strRef>
          </c:tx>
          <c:spPr>
            <a:ln>
              <a:solidFill>
                <a:srgbClr val="0D9488"/>
              </a:solidFill>
            </a:ln>
          </c:spPr>
          <c:cat>
            <c:strRef>
              <c:f>Sheet1!$A$2:$A$8</c:f>
              <c:strCache>
                <c:ptCount val="7"/>
                <c:pt idx="0">
                  <c:v>5°</c:v>
                </c:pt>
                <c:pt idx="1">
                  <c:v>10°</c:v>
                </c:pt>
                <c:pt idx="2">
                  <c:v>15°</c:v>
                </c:pt>
                <c:pt idx="3">
                  <c:v>20°</c:v>
                </c:pt>
                <c:pt idx="4">
                  <c:v>25°</c:v>
                </c:pt>
                <c:pt idx="5">
                  <c:v>30°</c:v>
                </c:pt>
                <c:pt idx="6">
                  <c:v>35°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41.0</c:v>
                </c:pt>
                <c:pt idx="1">
                  <c:v>16.0</c:v>
                </c:pt>
                <c:pt idx="2">
                  <c:v>5.5</c:v>
                </c:pt>
                <c:pt idx="3">
                  <c:v>11.0</c:v>
                </c:pt>
                <c:pt idx="4">
                  <c:v>24.0</c:v>
                </c:pt>
                <c:pt idx="5">
                  <c:v>39.0</c:v>
                </c:pt>
                <c:pt idx="6">
                  <c:v>48.0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400">
              <a:latin typeface="Inte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KLH UNIVERSITY • DEPARTMENT OF ECE</a:t>
            </a:r>
          </a:p>
          <a:p>
            <a:pPr>
              <a:spcAft>
                <a:spcPts val="1600"/>
              </a:spcAft>
            </a:pPr>
            <a:r>
              <a:rPr sz="4400" b="1">
                <a:solidFill>
                  <a:srgbClr val="F8FAFC"/>
                </a:solidFill>
                <a:latin typeface="Inter Display"/>
              </a:rPr>
              <a:t>PosturePulse: Smart Spine &amp; Posture Monitor</a:t>
            </a:r>
          </a:p>
          <a:p>
            <a:r>
              <a:rPr sz="2000">
                <a:solidFill>
                  <a:srgbClr val="CBD5E1"/>
                </a:solidFill>
                <a:latin typeface="Inter"/>
              </a:rPr>
              <a:t>Dual-IMU Curvature Sensing, Complementary Filtering &amp; Personalized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4A3B8"/>
                </a:solidFill>
                <a:latin typeface="Inter"/>
              </a:rPr>
              <a:t>Md Saif (2510040004)  •  Deepak (2510040056)  •  Bhargav (2510040005)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_cropp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01 • PROBLEM &amp; CORE SOLUTION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Dual IMUs Separate Slouching from 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Why PosturePulse Works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The Problem: </a:t>
            </a:r>
            <a:r>
              <a:rPr sz="1600">
                <a:solidFill>
                  <a:srgbClr val="475569"/>
                </a:solidFill>
                <a:latin typeface="Inter"/>
              </a:rPr>
              <a:t>Sitting for hours with forward-head posture causes neck strain and back pain.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Why Single Clips Fail: </a:t>
            </a:r>
            <a:r>
              <a:rPr sz="1600">
                <a:solidFill>
                  <a:srgbClr val="475569"/>
                </a:solidFill>
                <a:latin typeface="Inter"/>
              </a:rPr>
              <a:t>Passive straps weaken muscles; single-sensor clips buzz falsely when leaning forward.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Dual-Sensor Solution: </a:t>
            </a:r>
            <a:r>
              <a:rPr sz="1600">
                <a:solidFill>
                  <a:srgbClr val="475569"/>
                </a:solidFill>
                <a:latin typeface="Inter"/>
              </a:rPr>
              <a:t>Uses two IMUs (Upper Spine 0x68 &amp; Lower Spine 0x69) to measure relative curvature.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Awareness Boundary: </a:t>
            </a:r>
            <a:r>
              <a:rPr sz="1600">
                <a:solidFill>
                  <a:srgbClr val="475569"/>
                </a:solidFill>
                <a:latin typeface="Inter"/>
              </a:rPr>
              <a:t>Provides habit reminders only—no medical diagnosis or clinical treatment.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_cropp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02 • SYSTEM BLOCK DIAGRAM &amp; AECD FLOW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Transmitter &amp; Receiver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End-to-End AECD &amp; RF Stages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Transmitter Node: </a:t>
            </a:r>
            <a:r>
              <a:rPr sz="1600">
                <a:solidFill>
                  <a:srgbClr val="475569"/>
                </a:solidFill>
                <a:latin typeface="Inter"/>
              </a:rPr>
              <a:t>Combines 3.7V LiPo + AMS1117-3.3V LDO, dual IMU sensing, and NPN motor driver stage.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Embedded DSP Core: </a:t>
            </a:r>
            <a:r>
              <a:rPr sz="1600">
                <a:solidFill>
                  <a:srgbClr val="475569"/>
                </a:solidFill>
                <a:latin typeface="Inter"/>
              </a:rPr>
              <a:t>Computes 3s baseline, 0.98 complementary filter, curvature, and 10s slouch timer on ESP32.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Wireless RF Channel: </a:t>
            </a:r>
            <a:r>
              <a:rPr sz="1600">
                <a:solidFill>
                  <a:srgbClr val="475569"/>
                </a:solidFill>
                <a:latin typeface="Inter"/>
              </a:rPr>
              <a:t>Streams posture metrics and slouch counts via 2.4 GHz BLE GATT (or USB serial).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Receiver Station: </a:t>
            </a:r>
            <a:r>
              <a:rPr sz="1600">
                <a:solidFill>
                  <a:srgbClr val="475569"/>
                </a:solidFill>
                <a:latin typeface="Inter"/>
              </a:rPr>
              <a:t>Host dashboard runs supervised ML cutoff inference, Daily Scores, and shift heatmaps.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03 • CIRCUIT WIRING &amp; PIN MAPPING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Shared I2C Bus Connects Both Sensors and OLED Display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920240"/>
                <a:gridCol w="38404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Component Pin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ESP32 Pin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Function / 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MPU6050 #1, #2 &amp; OLED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GPIO 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Shared I2C Clock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MPU6050 #1, #2 &amp; OLED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SDA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GPIO 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Shared I2C Data 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MPU6050 #1 (Upper Spine)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AD0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I2C Address 0x68 (Upper Back)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MPU6050 #2 (Lower Spine)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AD0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3.3V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I2C Address 0x69 (Lower Back)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OLED Display (SSD1306)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SCL / SDA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GPIO 22 / 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Shared I2C Bus (Address 0x3C)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Calibration Push Button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Pin 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GPIO 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Calibration Trigger (INPUT_PULLUP)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Coin Vibration Motor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Positive (+)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GPIO 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PWM / Digital Output Haptic Alert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System Status LED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Anode (+)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GPIO 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System Status Indicator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_cropp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04 • WIRING SAFETY &amp; BENCH GUIDE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Safe Voltage Domains and Breadboard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Hardware Safety Checklist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Common Ground: </a:t>
            </a:r>
            <a:r>
              <a:rPr sz="1600">
                <a:solidFill>
                  <a:srgbClr val="475569"/>
                </a:solidFill>
                <a:latin typeface="Inter"/>
              </a:rPr>
              <a:t>Connect MCU GND, sensor GND, and shifter GND before applying USB power.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3.3V Logic Protection: </a:t>
            </a:r>
            <a:r>
              <a:rPr sz="1600">
                <a:solidFill>
                  <a:srgbClr val="475569"/>
                </a:solidFill>
                <a:latin typeface="Inter"/>
              </a:rPr>
              <a:t>Use a bidirectional I2C level shifter when pairing a 5V Uno with 3.3V sensors.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Actuator Protection: </a:t>
            </a:r>
            <a:r>
              <a:rPr sz="1600">
                <a:solidFill>
                  <a:srgbClr val="475569"/>
                </a:solidFill>
                <a:latin typeface="Inter"/>
              </a:rPr>
              <a:t>Drive the coin motor via an NPN transistor + diode, or piezo via a 10k resistor.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Button Wiring: </a:t>
            </a:r>
            <a:r>
              <a:rPr sz="1600">
                <a:solidFill>
                  <a:srgbClr val="475569"/>
                </a:solidFill>
                <a:latin typeface="Inter"/>
              </a:rPr>
              <a:t>Wire the button between GPIO 4 (or D2) and GND with no external resistor.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05 • STEP-BY-STEP DETECTION ALGORITHM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Complementary Filtering and Relative Curvature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How Slouch Detection Works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1. Calibration (3s): </a:t>
            </a:r>
            <a:r>
              <a:rPr sz="1600">
                <a:solidFill>
                  <a:srgbClr val="475569"/>
                </a:solidFill>
                <a:latin typeface="Inter"/>
              </a:rPr>
              <a:t>Samples both IMUs for 3s upright to store baseUpper and baseLower.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2. Complementary Filter: </a:t>
            </a:r>
            <a:r>
              <a:rPr sz="1600">
                <a:solidFill>
                  <a:srgbClr val="475569"/>
                </a:solidFill>
                <a:latin typeface="Inter"/>
              </a:rPr>
              <a:t>theta_filt = 0.98*(theta + omega*dt) + 0.02*theta_accel removes drift.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3. Relative Curvature: </a:t>
            </a:r>
            <a:r>
              <a:rPr sz="1600">
                <a:solidFill>
                  <a:srgbClr val="475569"/>
                </a:solidFill>
                <a:latin typeface="Inter"/>
              </a:rPr>
              <a:t>Curvature = (Upper - Upper_Base) - (Lower - Lower_Base).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4. Lean vs. Slouch: </a:t>
            </a:r>
            <a:r>
              <a:rPr sz="1600">
                <a:solidFill>
                  <a:srgbClr val="475569"/>
                </a:solidFill>
                <a:latin typeface="Inter"/>
              </a:rPr>
              <a:t>Leaning tilts both sensors equally (~1.5° diff); slouching bends only upper (&gt;15°).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11680"/>
          <a:ext cx="55778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06 • EMBEDDED FIRMWARE BEHAVIOR &amp; SAFETY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10-Second Timer and 5° Hysteresis Prevent False Alerts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Posture / Sensor Condition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Threshold / Timing Rule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Programmed System Response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Forward Curvature / Tilt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Above 15° (or learned AI angle)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Start a 10-second continuous millis() timer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Timer Reaches 10 Seconds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10s continuous slouch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Pulse vibration motor (300 ms) / 2 kHz tone (200 ms)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Alert Remains 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Persistent slouching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Repeat escalating alert every 5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Hysteresis Recovery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Returns to &lt;= 10° (5° below cutoff)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Silence alert immediately and reset timer to 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Significant Motion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Dynamic movement spike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Clear timer and silence alert during movement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Sensor Bus Fault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I2C communication drop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75569"/>
                          </a:solidFill>
                          <a:latin typeface="Inter"/>
                        </a:rPr>
                        <a:t>Silence actuator, latch fault, require restart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07 • PERSONALIZED AI &amp; DATA PIPELINE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Supervised AI Learns Each Wearer's Personal Tilt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1D Supervised Classifier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Train &amp; Validate: </a:t>
            </a:r>
            <a:r>
              <a:rPr sz="1600">
                <a:solidFill>
                  <a:srgbClr val="475569"/>
                </a:solidFill>
                <a:latin typeface="Inter"/>
              </a:rPr>
              <a:t>Captures 10s upright + 10s leaning, then repeats in fresh holds.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5°–40° Cutoff Sweep: </a:t>
            </a:r>
            <a:r>
              <a:rPr sz="1600">
                <a:solidFill>
                  <a:srgbClr val="475569"/>
                </a:solidFill>
                <a:latin typeface="Inter"/>
              </a:rPr>
              <a:t>Chooses the angle that minimizes balanced training error.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20% Acceptance Gate: </a:t>
            </a:r>
            <a:r>
              <a:rPr sz="1600">
                <a:solidFill>
                  <a:srgbClr val="475569"/>
                </a:solidFill>
                <a:latin typeface="Inter"/>
              </a:rPr>
              <a:t>Accepts model only if train and validation error are both &lt;= 20%.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Local Persistence: </a:t>
            </a:r>
            <a:r>
              <a:rPr sz="1600">
                <a:solidFill>
                  <a:srgbClr val="475569"/>
                </a:solidFill>
                <a:latin typeface="Inter"/>
              </a:rPr>
              <a:t>Saves CSV samples and JSON model; sets reset 5° below learned angle.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11680"/>
          <a:ext cx="55778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08 • DEMONSTRATION, APP INTEGRATION &amp; CREDITS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Live Demo Flow, BLE Mobile Dashboard &amp; Project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515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3492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1. Live Demo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Calibrate &amp; Teach: </a:t>
            </a:r>
            <a:r>
              <a:rPr sz="1600">
                <a:solidFill>
                  <a:srgbClr val="475569"/>
                </a:solidFill>
                <a:latin typeface="Inter"/>
              </a:rPr>
              <a:t>Press button 3s upright (CAL_OK), then record 10s holds.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Lean vs. Slouch: </a:t>
            </a:r>
            <a:r>
              <a:rPr sz="1600">
                <a:solidFill>
                  <a:srgbClr val="475569"/>
                </a:solidFill>
                <a:latin typeface="Inter"/>
              </a:rPr>
              <a:t>Lean for bottle (no buzz), then slouch 10s to trigger alert.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515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3492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2. BLE App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Daily Score (0–100): </a:t>
            </a:r>
            <a:r>
              <a:rPr sz="1600">
                <a:solidFill>
                  <a:srgbClr val="475569"/>
                </a:solidFill>
                <a:latin typeface="Inter"/>
              </a:rPr>
              <a:t>Streams curvature_angle and slouch_count over ESP32 BLE.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Shift Heatmap: </a:t>
            </a:r>
            <a:r>
              <a:rPr sz="1600">
                <a:solidFill>
                  <a:srgbClr val="475569"/>
                </a:solidFill>
                <a:latin typeface="Inter"/>
              </a:rPr>
              <a:t>Shows peak slouching hours and customizes 5s/10s/30s timers.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515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3492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3. Team &amp; Guides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Student Team: </a:t>
            </a:r>
            <a:r>
              <a:rPr sz="1600">
                <a:solidFill>
                  <a:srgbClr val="475569"/>
                </a:solidFill>
                <a:latin typeface="Inter"/>
              </a:rPr>
              <a:t>Md Saif (2510040004), Deepak (2510040056), Bhargav (2510040005).</a:t>
            </a:r>
          </a:p>
          <a:p>
            <a:pPr algn="l" marL="228600" indent="-228600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ECE Guidance: </a:t>
            </a:r>
            <a:r>
              <a:rPr sz="1600">
                <a:solidFill>
                  <a:srgbClr val="475569"/>
                </a:solidFill>
                <a:latin typeface="Inter"/>
              </a:rPr>
              <a:t>Dr. Ashwini Varma, Vivek Pathak, Dr. Bhuvaneshwari, Dr. Sudharsana Rao.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PosturePulse • KLH University ECE  |  Slide 09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POSTUREPULSE • KLH UNIVERSITY ECE</a:t>
            </a:r>
          </a:p>
          <a:p>
            <a:pPr>
              <a:spcAft>
                <a:spcPts val="1400"/>
              </a:spcAft>
            </a:pPr>
            <a:r>
              <a:rPr sz="4000" b="1">
                <a:solidFill>
                  <a:srgbClr val="F8FAFC"/>
                </a:solidFill>
                <a:latin typeface="Inter Display"/>
              </a:rPr>
              <a:t>Smart Posture Awareness Without False Alarms.</a:t>
            </a:r>
          </a:p>
          <a:p>
            <a:r>
              <a:rPr sz="2000">
                <a:solidFill>
                  <a:srgbClr val="CBD5E1"/>
                </a:solidFill>
                <a:latin typeface="Inter"/>
              </a:rPr>
              <a:t>Thank You  |  Md Saif • Deepak • Bhargav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